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on" charset="1" panose="00000500000000000000"/>
      <p:regular r:id="rId18"/>
    </p:embeddedFont>
    <p:embeddedFont>
      <p:font typeface="Agrandir" charset="1" panose="00000500000000000000"/>
      <p:regular r:id="rId19"/>
    </p:embeddedFont>
    <p:embeddedFont>
      <p:font typeface="Agrandir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867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0" y="0"/>
                </a:moveTo>
                <a:lnTo>
                  <a:pt x="3590163" y="0"/>
                </a:lnTo>
                <a:lnTo>
                  <a:pt x="35901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3590163" y="0"/>
                </a:moveTo>
                <a:lnTo>
                  <a:pt x="0" y="0"/>
                </a:lnTo>
                <a:lnTo>
                  <a:pt x="0" y="8229600"/>
                </a:lnTo>
                <a:lnTo>
                  <a:pt x="3590163" y="8229600"/>
                </a:lnTo>
                <a:lnTo>
                  <a:pt x="3590163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89405" y="3733703"/>
            <a:ext cx="9909190" cy="299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5"/>
              </a:lnSpc>
            </a:pPr>
            <a:r>
              <a:rPr lang="en-US" sz="111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FRUIT RECOGNITION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37563" y="2259204"/>
            <a:ext cx="7561347" cy="261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OBJECTIVES AND CHALLENGES OF THE PROJECT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541127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3940747" y="0"/>
                </a:moveTo>
                <a:lnTo>
                  <a:pt x="0" y="0"/>
                </a:lnTo>
                <a:lnTo>
                  <a:pt x="0" y="4114800"/>
                </a:lnTo>
                <a:lnTo>
                  <a:pt x="3940747" y="4114800"/>
                </a:lnTo>
                <a:lnTo>
                  <a:pt x="394074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24714" y="5064218"/>
            <a:ext cx="7787044" cy="263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The goal of this project is to build a fruit recognition system using images and compare Classical Machine Learning with Deep Learning approaches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. Different classifiers are evaluated to measure their performance. The main challenge is accurately classifying 10 different types of fruits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126015" y="1336955"/>
            <a:ext cx="7269480" cy="8229600"/>
          </a:xfrm>
          <a:custGeom>
            <a:avLst/>
            <a:gdLst/>
            <a:ahLst/>
            <a:cxnLst/>
            <a:rect r="r" b="b" t="t" l="l"/>
            <a:pathLst>
              <a:path h="8229600" w="7269480">
                <a:moveTo>
                  <a:pt x="0" y="0"/>
                </a:moveTo>
                <a:lnTo>
                  <a:pt x="7269480" y="0"/>
                </a:lnTo>
                <a:lnTo>
                  <a:pt x="72694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80722" y="3076974"/>
            <a:ext cx="787570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0722" y="4363928"/>
            <a:ext cx="8819991" cy="520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So</a:t>
            </a: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urce: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Hugging Face (ysif9/fruit-recognition)</a:t>
            </a: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10 Fruit: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Classes: </a:t>
            </a:r>
          </a:p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 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Apple, Banana, Orange, Mango, Grapes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Pineapple, Watermelon, Pomegranate, Strawberry,    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Lemon</a:t>
            </a: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Split:</a:t>
            </a:r>
          </a:p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Training set (80%)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Validation set (10%)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Test set (10%)</a:t>
            </a: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62930" y="2893222"/>
            <a:ext cx="4144557" cy="989754"/>
            <a:chOff x="0" y="0"/>
            <a:chExt cx="1017514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2267" y="32155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12356" y="5006009"/>
            <a:ext cx="4438526" cy="14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5"/>
              </a:lnSpc>
            </a:pPr>
            <a:r>
              <a:rPr lang="en-US" sz="5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PREPROCESSING   </a:t>
            </a:r>
          </a:p>
          <a:p>
            <a:pPr algn="l">
              <a:lnSpc>
                <a:spcPts val="5835"/>
              </a:lnSpc>
            </a:pPr>
            <a:r>
              <a:rPr lang="en-US" sz="5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       STEPS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8318" y="3077899"/>
            <a:ext cx="2709168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age Resizing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1812" y="3008863"/>
            <a:ext cx="4758773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224×224 for Deep Learning models and 96×96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for Classical Machine Learning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62930" y="2893222"/>
            <a:ext cx="1081897" cy="989754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47478" y="306837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62930" y="5252313"/>
            <a:ext cx="4144557" cy="989754"/>
            <a:chOff x="0" y="0"/>
            <a:chExt cx="1017514" cy="24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814698" y="5497781"/>
            <a:ext cx="2173187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Norm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alization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21812" y="5325691"/>
            <a:ext cx="4308529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Scaled pixel values to [0,1] range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62930" y="5252313"/>
            <a:ext cx="1081897" cy="989754"/>
            <a:chOff x="0" y="0"/>
            <a:chExt cx="265612" cy="242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847478" y="5516542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62930" y="7708638"/>
            <a:ext cx="4144557" cy="989754"/>
            <a:chOff x="0" y="0"/>
            <a:chExt cx="1017514" cy="242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814698" y="7768369"/>
            <a:ext cx="2611378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Data Augmentation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1812" y="7753580"/>
            <a:ext cx="4758773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Random flips &amp; Rand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om rotations</a:t>
            </a:r>
          </a:p>
          <a:p>
            <a:pPr algn="l">
              <a:lnSpc>
                <a:spcPts val="344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7562930" y="7708638"/>
            <a:ext cx="1081897" cy="989754"/>
            <a:chOff x="0" y="0"/>
            <a:chExt cx="265612" cy="2429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847478" y="7944431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4641" y="2697780"/>
            <a:ext cx="6630779" cy="7068493"/>
          </a:xfrm>
          <a:custGeom>
            <a:avLst/>
            <a:gdLst/>
            <a:ahLst/>
            <a:cxnLst/>
            <a:rect r="r" b="b" t="t" l="l"/>
            <a:pathLst>
              <a:path h="7068493" w="6630779">
                <a:moveTo>
                  <a:pt x="0" y="0"/>
                </a:moveTo>
                <a:lnTo>
                  <a:pt x="6630779" y="0"/>
                </a:lnTo>
                <a:lnTo>
                  <a:pt x="6630779" y="7068493"/>
                </a:lnTo>
                <a:lnTo>
                  <a:pt x="0" y="7068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0886" y="3571797"/>
            <a:ext cx="7561347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FEATURE EXTRACTION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0886" y="5342519"/>
            <a:ext cx="9728642" cy="305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M</a:t>
            </a: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ethod Used: 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MobileNetV2 (pre-trained on ImageNet)</a:t>
            </a: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Process:  </a:t>
            </a:r>
          </a:p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 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Converted images to 1280-dimensional feature vectors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Applied dimensionality reduction (LDA &amp; PCA)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Reduced features for better performance</a:t>
            </a: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30318" y="4354617"/>
            <a:ext cx="4844935" cy="989754"/>
            <a:chOff x="0" y="0"/>
            <a:chExt cx="1189461" cy="242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9461" cy="242991"/>
            </a:xfrm>
            <a:custGeom>
              <a:avLst/>
              <a:gdLst/>
              <a:ahLst/>
              <a:cxnLst/>
              <a:rect r="r" b="b" t="t" l="l"/>
              <a:pathLst>
                <a:path h="242991" w="1189461">
                  <a:moveTo>
                    <a:pt x="121495" y="0"/>
                  </a:moveTo>
                  <a:lnTo>
                    <a:pt x="1067966" y="0"/>
                  </a:lnTo>
                  <a:cubicBezTo>
                    <a:pt x="1100188" y="0"/>
                    <a:pt x="1131091" y="12800"/>
                    <a:pt x="1153876" y="35585"/>
                  </a:cubicBezTo>
                  <a:cubicBezTo>
                    <a:pt x="1176661" y="58370"/>
                    <a:pt x="1189461" y="89273"/>
                    <a:pt x="1189461" y="121495"/>
                  </a:cubicBezTo>
                  <a:lnTo>
                    <a:pt x="1189461" y="121495"/>
                  </a:lnTo>
                  <a:cubicBezTo>
                    <a:pt x="1189461" y="153718"/>
                    <a:pt x="1176661" y="184621"/>
                    <a:pt x="1153876" y="207406"/>
                  </a:cubicBezTo>
                  <a:cubicBezTo>
                    <a:pt x="1131091" y="230190"/>
                    <a:pt x="1100188" y="242991"/>
                    <a:pt x="1067966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946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30318" y="4354617"/>
            <a:ext cx="1081897" cy="989754"/>
            <a:chOff x="0" y="0"/>
            <a:chExt cx="265612" cy="24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47741" y="6875260"/>
            <a:ext cx="4844935" cy="989754"/>
            <a:chOff x="0" y="0"/>
            <a:chExt cx="1189461" cy="24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9461" cy="242991"/>
            </a:xfrm>
            <a:custGeom>
              <a:avLst/>
              <a:gdLst/>
              <a:ahLst/>
              <a:cxnLst/>
              <a:rect r="r" b="b" t="t" l="l"/>
              <a:pathLst>
                <a:path h="242991" w="1189461">
                  <a:moveTo>
                    <a:pt x="121495" y="0"/>
                  </a:moveTo>
                  <a:lnTo>
                    <a:pt x="1067966" y="0"/>
                  </a:lnTo>
                  <a:cubicBezTo>
                    <a:pt x="1100188" y="0"/>
                    <a:pt x="1131091" y="12800"/>
                    <a:pt x="1153876" y="35585"/>
                  </a:cubicBezTo>
                  <a:cubicBezTo>
                    <a:pt x="1176661" y="58370"/>
                    <a:pt x="1189461" y="89273"/>
                    <a:pt x="1189461" y="121495"/>
                  </a:cubicBezTo>
                  <a:lnTo>
                    <a:pt x="1189461" y="121495"/>
                  </a:lnTo>
                  <a:cubicBezTo>
                    <a:pt x="1189461" y="153718"/>
                    <a:pt x="1176661" y="184621"/>
                    <a:pt x="1153876" y="207406"/>
                  </a:cubicBezTo>
                  <a:cubicBezTo>
                    <a:pt x="1131091" y="230190"/>
                    <a:pt x="1100188" y="242991"/>
                    <a:pt x="1067966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8946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47741" y="6875260"/>
            <a:ext cx="1081897" cy="989754"/>
            <a:chOff x="0" y="0"/>
            <a:chExt cx="265612" cy="24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1292" y="4226143"/>
            <a:ext cx="4844935" cy="989754"/>
            <a:chOff x="0" y="0"/>
            <a:chExt cx="1189461" cy="24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9461" cy="242991"/>
            </a:xfrm>
            <a:custGeom>
              <a:avLst/>
              <a:gdLst/>
              <a:ahLst/>
              <a:cxnLst/>
              <a:rect r="r" b="b" t="t" l="l"/>
              <a:pathLst>
                <a:path h="242991" w="1189461">
                  <a:moveTo>
                    <a:pt x="121495" y="0"/>
                  </a:moveTo>
                  <a:lnTo>
                    <a:pt x="1067966" y="0"/>
                  </a:lnTo>
                  <a:cubicBezTo>
                    <a:pt x="1100188" y="0"/>
                    <a:pt x="1131091" y="12800"/>
                    <a:pt x="1153876" y="35585"/>
                  </a:cubicBezTo>
                  <a:cubicBezTo>
                    <a:pt x="1176661" y="58370"/>
                    <a:pt x="1189461" y="89273"/>
                    <a:pt x="1189461" y="121495"/>
                  </a:cubicBezTo>
                  <a:lnTo>
                    <a:pt x="1189461" y="121495"/>
                  </a:lnTo>
                  <a:cubicBezTo>
                    <a:pt x="1189461" y="153718"/>
                    <a:pt x="1176661" y="184621"/>
                    <a:pt x="1153876" y="207406"/>
                  </a:cubicBezTo>
                  <a:cubicBezTo>
                    <a:pt x="1131091" y="230190"/>
                    <a:pt x="1100188" y="242991"/>
                    <a:pt x="1067966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18946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01292" y="4226143"/>
            <a:ext cx="1081897" cy="989754"/>
            <a:chOff x="0" y="0"/>
            <a:chExt cx="265612" cy="242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37563" y="2688655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 MODELS TESTED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06979" y="4405636"/>
            <a:ext cx="3198741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K-Neares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 Neighbors (KNN)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27225" y="5568993"/>
            <a:ext cx="4820675" cy="73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Classifies fruits by finding the 5 most similar images in the training set based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14866" y="4529769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57407" y="7153275"/>
            <a:ext cx="2173187" cy="4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ecision Tree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53659" y="7941214"/>
            <a:ext cx="5233100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  Makes classification decisions by  </a:t>
            </a:r>
          </a:p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  asking a series of yes/no qu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estions </a:t>
            </a:r>
          </a:p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  about image features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90015" y="7050412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12602" y="5415923"/>
            <a:ext cx="6089281" cy="73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  uses an RBF kernel t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 find the optimal  </a:t>
            </a:r>
          </a:p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  decision boundary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85840" y="4401296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92676" y="4306992"/>
            <a:ext cx="3023646" cy="7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Supp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ort Vector Machine (SVM)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30318" y="4354617"/>
            <a:ext cx="4844935" cy="989754"/>
            <a:chOff x="0" y="0"/>
            <a:chExt cx="1189461" cy="242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9461" cy="242991"/>
            </a:xfrm>
            <a:custGeom>
              <a:avLst/>
              <a:gdLst/>
              <a:ahLst/>
              <a:cxnLst/>
              <a:rect r="r" b="b" t="t" l="l"/>
              <a:pathLst>
                <a:path h="242991" w="1189461">
                  <a:moveTo>
                    <a:pt x="121495" y="0"/>
                  </a:moveTo>
                  <a:lnTo>
                    <a:pt x="1067966" y="0"/>
                  </a:lnTo>
                  <a:cubicBezTo>
                    <a:pt x="1100188" y="0"/>
                    <a:pt x="1131091" y="12800"/>
                    <a:pt x="1153876" y="35585"/>
                  </a:cubicBezTo>
                  <a:cubicBezTo>
                    <a:pt x="1176661" y="58370"/>
                    <a:pt x="1189461" y="89273"/>
                    <a:pt x="1189461" y="121495"/>
                  </a:cubicBezTo>
                  <a:lnTo>
                    <a:pt x="1189461" y="121495"/>
                  </a:lnTo>
                  <a:cubicBezTo>
                    <a:pt x="1189461" y="153718"/>
                    <a:pt x="1176661" y="184621"/>
                    <a:pt x="1153876" y="207406"/>
                  </a:cubicBezTo>
                  <a:cubicBezTo>
                    <a:pt x="1131091" y="230190"/>
                    <a:pt x="1100188" y="242991"/>
                    <a:pt x="1067966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8946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30318" y="4354617"/>
            <a:ext cx="1081897" cy="989754"/>
            <a:chOff x="0" y="0"/>
            <a:chExt cx="265612" cy="24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81080" y="6827635"/>
            <a:ext cx="4844935" cy="989754"/>
            <a:chOff x="0" y="0"/>
            <a:chExt cx="1189461" cy="24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9461" cy="242991"/>
            </a:xfrm>
            <a:custGeom>
              <a:avLst/>
              <a:gdLst/>
              <a:ahLst/>
              <a:cxnLst/>
              <a:rect r="r" b="b" t="t" l="l"/>
              <a:pathLst>
                <a:path h="242991" w="1189461">
                  <a:moveTo>
                    <a:pt x="121495" y="0"/>
                  </a:moveTo>
                  <a:lnTo>
                    <a:pt x="1067966" y="0"/>
                  </a:lnTo>
                  <a:cubicBezTo>
                    <a:pt x="1100188" y="0"/>
                    <a:pt x="1131091" y="12800"/>
                    <a:pt x="1153876" y="35585"/>
                  </a:cubicBezTo>
                  <a:cubicBezTo>
                    <a:pt x="1176661" y="58370"/>
                    <a:pt x="1189461" y="89273"/>
                    <a:pt x="1189461" y="121495"/>
                  </a:cubicBezTo>
                  <a:lnTo>
                    <a:pt x="1189461" y="121495"/>
                  </a:lnTo>
                  <a:cubicBezTo>
                    <a:pt x="1189461" y="153718"/>
                    <a:pt x="1176661" y="184621"/>
                    <a:pt x="1153876" y="207406"/>
                  </a:cubicBezTo>
                  <a:cubicBezTo>
                    <a:pt x="1131091" y="230190"/>
                    <a:pt x="1100188" y="242991"/>
                    <a:pt x="1067966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8946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81080" y="6824702"/>
            <a:ext cx="1081897" cy="989754"/>
            <a:chOff x="0" y="0"/>
            <a:chExt cx="265612" cy="24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1292" y="4226143"/>
            <a:ext cx="4844935" cy="989754"/>
            <a:chOff x="0" y="0"/>
            <a:chExt cx="1189461" cy="24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9461" cy="242991"/>
            </a:xfrm>
            <a:custGeom>
              <a:avLst/>
              <a:gdLst/>
              <a:ahLst/>
              <a:cxnLst/>
              <a:rect r="r" b="b" t="t" l="l"/>
              <a:pathLst>
                <a:path h="242991" w="1189461">
                  <a:moveTo>
                    <a:pt x="121495" y="0"/>
                  </a:moveTo>
                  <a:lnTo>
                    <a:pt x="1067966" y="0"/>
                  </a:lnTo>
                  <a:cubicBezTo>
                    <a:pt x="1100188" y="0"/>
                    <a:pt x="1131091" y="12800"/>
                    <a:pt x="1153876" y="35585"/>
                  </a:cubicBezTo>
                  <a:cubicBezTo>
                    <a:pt x="1176661" y="58370"/>
                    <a:pt x="1189461" y="89273"/>
                    <a:pt x="1189461" y="121495"/>
                  </a:cubicBezTo>
                  <a:lnTo>
                    <a:pt x="1189461" y="121495"/>
                  </a:lnTo>
                  <a:cubicBezTo>
                    <a:pt x="1189461" y="153718"/>
                    <a:pt x="1176661" y="184621"/>
                    <a:pt x="1153876" y="207406"/>
                  </a:cubicBezTo>
                  <a:cubicBezTo>
                    <a:pt x="1131091" y="230190"/>
                    <a:pt x="1100188" y="242991"/>
                    <a:pt x="1067966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18946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01292" y="4226143"/>
            <a:ext cx="1081897" cy="989754"/>
            <a:chOff x="0" y="0"/>
            <a:chExt cx="265612" cy="242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37563" y="2688655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 MODELS TESTED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50970" y="4553231"/>
            <a:ext cx="319874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Random Fores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14866" y="5568993"/>
            <a:ext cx="4820675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Combines predictions from 200 </a:t>
            </a:r>
          </a:p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individual decision trees </a:t>
            </a:r>
          </a:p>
          <a:p>
            <a:pPr algn="l">
              <a:lnSpc>
                <a:spcPts val="277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14866" y="4529769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11327" y="7060327"/>
            <a:ext cx="2173187" cy="4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27450" y="8045989"/>
            <a:ext cx="4748646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MobileNetV2 was used with transfer learning and achieved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higher accuracy</a:t>
            </a:r>
          </a:p>
          <a:p>
            <a:pPr algn="l">
              <a:lnSpc>
                <a:spcPts val="277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423354" y="700278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06.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63813" y="5306385"/>
            <a:ext cx="6089281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Builds trees sequentially where each new tree corrects the mistakes made by previous trees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using gradient boosting optimization.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85840" y="4401296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05.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0554" y="4480880"/>
            <a:ext cx="3023646" cy="4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XGB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oost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1888707" cy="1028700"/>
            <a:chOff x="0" y="0"/>
            <a:chExt cx="497437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437" cy="270933"/>
            </a:xfrm>
            <a:custGeom>
              <a:avLst/>
              <a:gdLst/>
              <a:ahLst/>
              <a:cxnLst/>
              <a:rect r="r" b="b" t="t" l="l"/>
              <a:pathLst>
                <a:path h="270933" w="497437">
                  <a:moveTo>
                    <a:pt x="0" y="0"/>
                  </a:moveTo>
                  <a:lnTo>
                    <a:pt x="497437" y="0"/>
                  </a:lnTo>
                  <a:lnTo>
                    <a:pt x="49743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E0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7437" cy="33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637" y="4337526"/>
            <a:ext cx="4874910" cy="4579144"/>
            <a:chOff x="0" y="0"/>
            <a:chExt cx="1283927" cy="1206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3927" cy="1206030"/>
            </a:xfrm>
            <a:custGeom>
              <a:avLst/>
              <a:gdLst/>
              <a:ahLst/>
              <a:cxnLst/>
              <a:rect r="r" b="b" t="t" l="l"/>
              <a:pathLst>
                <a:path h="1206030" w="1283927">
                  <a:moveTo>
                    <a:pt x="0" y="0"/>
                  </a:moveTo>
                  <a:lnTo>
                    <a:pt x="1283927" y="0"/>
                  </a:lnTo>
                  <a:lnTo>
                    <a:pt x="1283927" y="1206030"/>
                  </a:lnTo>
                  <a:lnTo>
                    <a:pt x="0" y="120603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83927" cy="127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5902" y="4660713"/>
            <a:ext cx="4062381" cy="3932770"/>
            <a:chOff x="0" y="0"/>
            <a:chExt cx="1213522" cy="11748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3522" cy="1174805"/>
            </a:xfrm>
            <a:custGeom>
              <a:avLst/>
              <a:gdLst/>
              <a:ahLst/>
              <a:cxnLst/>
              <a:rect r="r" b="b" t="t" l="l"/>
              <a:pathLst>
                <a:path h="1174805" w="1213522">
                  <a:moveTo>
                    <a:pt x="0" y="0"/>
                  </a:moveTo>
                  <a:lnTo>
                    <a:pt x="1213522" y="0"/>
                  </a:lnTo>
                  <a:lnTo>
                    <a:pt x="1213522" y="1174805"/>
                  </a:lnTo>
                  <a:lnTo>
                    <a:pt x="0" y="1174805"/>
                  </a:lnTo>
                  <a:close/>
                </a:path>
              </a:pathLst>
            </a:custGeom>
            <a:blipFill>
              <a:blip r:embed="rId2"/>
              <a:stretch>
                <a:fillRect l="-3818" t="0" r="-381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728773" y="4337526"/>
            <a:ext cx="4874910" cy="4579144"/>
            <a:chOff x="0" y="0"/>
            <a:chExt cx="1283927" cy="1206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3927" cy="1206030"/>
            </a:xfrm>
            <a:custGeom>
              <a:avLst/>
              <a:gdLst/>
              <a:ahLst/>
              <a:cxnLst/>
              <a:rect r="r" b="b" t="t" l="l"/>
              <a:pathLst>
                <a:path h="1206030" w="1283927">
                  <a:moveTo>
                    <a:pt x="0" y="0"/>
                  </a:moveTo>
                  <a:lnTo>
                    <a:pt x="1283927" y="0"/>
                  </a:lnTo>
                  <a:lnTo>
                    <a:pt x="1283927" y="1206030"/>
                  </a:lnTo>
                  <a:lnTo>
                    <a:pt x="0" y="120603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83927" cy="127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06545" y="4337526"/>
            <a:ext cx="4874910" cy="4579144"/>
            <a:chOff x="0" y="0"/>
            <a:chExt cx="1283927" cy="12060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927" cy="1206030"/>
            </a:xfrm>
            <a:custGeom>
              <a:avLst/>
              <a:gdLst/>
              <a:ahLst/>
              <a:cxnLst/>
              <a:rect r="r" b="b" t="t" l="l"/>
              <a:pathLst>
                <a:path h="1206030" w="1283927">
                  <a:moveTo>
                    <a:pt x="0" y="0"/>
                  </a:moveTo>
                  <a:lnTo>
                    <a:pt x="1283927" y="0"/>
                  </a:lnTo>
                  <a:lnTo>
                    <a:pt x="1283927" y="1206030"/>
                  </a:lnTo>
                  <a:lnTo>
                    <a:pt x="0" y="120603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283927" cy="127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35037" y="4660713"/>
            <a:ext cx="4062381" cy="3932770"/>
            <a:chOff x="0" y="0"/>
            <a:chExt cx="1213522" cy="11748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3522" cy="1174805"/>
            </a:xfrm>
            <a:custGeom>
              <a:avLst/>
              <a:gdLst/>
              <a:ahLst/>
              <a:cxnLst/>
              <a:rect r="r" b="b" t="t" l="l"/>
              <a:pathLst>
                <a:path h="1174805" w="1213522">
                  <a:moveTo>
                    <a:pt x="0" y="0"/>
                  </a:moveTo>
                  <a:lnTo>
                    <a:pt x="1213522" y="0"/>
                  </a:lnTo>
                  <a:lnTo>
                    <a:pt x="1213522" y="1174805"/>
                  </a:lnTo>
                  <a:lnTo>
                    <a:pt x="0" y="1174805"/>
                  </a:lnTo>
                  <a:close/>
                </a:path>
              </a:pathLst>
            </a:custGeom>
            <a:blipFill>
              <a:blip r:embed="rId3"/>
              <a:stretch>
                <a:fillRect l="-3783" t="0" r="-378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12809" y="4660713"/>
            <a:ext cx="4062381" cy="3932770"/>
            <a:chOff x="0" y="0"/>
            <a:chExt cx="1213522" cy="11748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3522" cy="1174805"/>
            </a:xfrm>
            <a:custGeom>
              <a:avLst/>
              <a:gdLst/>
              <a:ahLst/>
              <a:cxnLst/>
              <a:rect r="r" b="b" t="t" l="l"/>
              <a:pathLst>
                <a:path h="1174805" w="1213522">
                  <a:moveTo>
                    <a:pt x="0" y="0"/>
                  </a:moveTo>
                  <a:lnTo>
                    <a:pt x="1213522" y="0"/>
                  </a:lnTo>
                  <a:lnTo>
                    <a:pt x="1213522" y="1174805"/>
                  </a:lnTo>
                  <a:lnTo>
                    <a:pt x="0" y="1174805"/>
                  </a:lnTo>
                  <a:close/>
                </a:path>
              </a:pathLst>
            </a:custGeom>
            <a:blipFill>
              <a:blip r:embed="rId4"/>
              <a:stretch>
                <a:fillRect l="-3818" t="0" r="-3818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167426" y="2419759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CONFUSION MATRICES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98469" y="9153525"/>
            <a:ext cx="588650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DT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00008" y="9153525"/>
            <a:ext cx="588650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97611" y="9114437"/>
            <a:ext cx="1892778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XGBOOST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1888707" cy="1028700"/>
            <a:chOff x="0" y="0"/>
            <a:chExt cx="497437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437" cy="270933"/>
            </a:xfrm>
            <a:custGeom>
              <a:avLst/>
              <a:gdLst/>
              <a:ahLst/>
              <a:cxnLst/>
              <a:rect r="r" b="b" t="t" l="l"/>
              <a:pathLst>
                <a:path h="270933" w="497437">
                  <a:moveTo>
                    <a:pt x="0" y="0"/>
                  </a:moveTo>
                  <a:lnTo>
                    <a:pt x="497437" y="0"/>
                  </a:lnTo>
                  <a:lnTo>
                    <a:pt x="49743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E0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7437" cy="33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637" y="4337526"/>
            <a:ext cx="4874910" cy="4579144"/>
            <a:chOff x="0" y="0"/>
            <a:chExt cx="1283927" cy="1206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3927" cy="1206030"/>
            </a:xfrm>
            <a:custGeom>
              <a:avLst/>
              <a:gdLst/>
              <a:ahLst/>
              <a:cxnLst/>
              <a:rect r="r" b="b" t="t" l="l"/>
              <a:pathLst>
                <a:path h="1206030" w="1283927">
                  <a:moveTo>
                    <a:pt x="0" y="0"/>
                  </a:moveTo>
                  <a:lnTo>
                    <a:pt x="1283927" y="0"/>
                  </a:lnTo>
                  <a:lnTo>
                    <a:pt x="1283927" y="1206030"/>
                  </a:lnTo>
                  <a:lnTo>
                    <a:pt x="0" y="120603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83927" cy="127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5902" y="4660713"/>
            <a:ext cx="4062381" cy="3932770"/>
            <a:chOff x="0" y="0"/>
            <a:chExt cx="1213522" cy="11748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3522" cy="1174805"/>
            </a:xfrm>
            <a:custGeom>
              <a:avLst/>
              <a:gdLst/>
              <a:ahLst/>
              <a:cxnLst/>
              <a:rect r="r" b="b" t="t" l="l"/>
              <a:pathLst>
                <a:path h="1174805" w="1213522">
                  <a:moveTo>
                    <a:pt x="0" y="0"/>
                  </a:moveTo>
                  <a:lnTo>
                    <a:pt x="1213522" y="0"/>
                  </a:lnTo>
                  <a:lnTo>
                    <a:pt x="1213522" y="1174805"/>
                  </a:lnTo>
                  <a:lnTo>
                    <a:pt x="0" y="1174805"/>
                  </a:lnTo>
                  <a:close/>
                </a:path>
              </a:pathLst>
            </a:custGeom>
            <a:blipFill>
              <a:blip r:embed="rId2"/>
              <a:stretch>
                <a:fillRect l="-3818" t="0" r="-381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728773" y="4337526"/>
            <a:ext cx="4874910" cy="4579144"/>
            <a:chOff x="0" y="0"/>
            <a:chExt cx="1283927" cy="1206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3927" cy="1206030"/>
            </a:xfrm>
            <a:custGeom>
              <a:avLst/>
              <a:gdLst/>
              <a:ahLst/>
              <a:cxnLst/>
              <a:rect r="r" b="b" t="t" l="l"/>
              <a:pathLst>
                <a:path h="1206030" w="1283927">
                  <a:moveTo>
                    <a:pt x="0" y="0"/>
                  </a:moveTo>
                  <a:lnTo>
                    <a:pt x="1283927" y="0"/>
                  </a:lnTo>
                  <a:lnTo>
                    <a:pt x="1283927" y="1206030"/>
                  </a:lnTo>
                  <a:lnTo>
                    <a:pt x="0" y="120603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83927" cy="127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06545" y="4337526"/>
            <a:ext cx="4874910" cy="4579144"/>
            <a:chOff x="0" y="0"/>
            <a:chExt cx="1283927" cy="12060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927" cy="1206030"/>
            </a:xfrm>
            <a:custGeom>
              <a:avLst/>
              <a:gdLst/>
              <a:ahLst/>
              <a:cxnLst/>
              <a:rect r="r" b="b" t="t" l="l"/>
              <a:pathLst>
                <a:path h="1206030" w="1283927">
                  <a:moveTo>
                    <a:pt x="0" y="0"/>
                  </a:moveTo>
                  <a:lnTo>
                    <a:pt x="1283927" y="0"/>
                  </a:lnTo>
                  <a:lnTo>
                    <a:pt x="1283927" y="1206030"/>
                  </a:lnTo>
                  <a:lnTo>
                    <a:pt x="0" y="120603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283927" cy="127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35037" y="4660713"/>
            <a:ext cx="4062381" cy="3932770"/>
            <a:chOff x="0" y="0"/>
            <a:chExt cx="1213522" cy="11748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3522" cy="1174805"/>
            </a:xfrm>
            <a:custGeom>
              <a:avLst/>
              <a:gdLst/>
              <a:ahLst/>
              <a:cxnLst/>
              <a:rect r="r" b="b" t="t" l="l"/>
              <a:pathLst>
                <a:path h="1174805" w="1213522">
                  <a:moveTo>
                    <a:pt x="0" y="0"/>
                  </a:moveTo>
                  <a:lnTo>
                    <a:pt x="1213522" y="0"/>
                  </a:lnTo>
                  <a:lnTo>
                    <a:pt x="1213522" y="1174805"/>
                  </a:lnTo>
                  <a:lnTo>
                    <a:pt x="0" y="1174805"/>
                  </a:lnTo>
                  <a:close/>
                </a:path>
              </a:pathLst>
            </a:custGeom>
            <a:blipFill>
              <a:blip r:embed="rId3"/>
              <a:stretch>
                <a:fillRect l="-5256" t="0" r="-525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12809" y="4660713"/>
            <a:ext cx="4062381" cy="3932770"/>
            <a:chOff x="0" y="0"/>
            <a:chExt cx="1213522" cy="11748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3522" cy="1174805"/>
            </a:xfrm>
            <a:custGeom>
              <a:avLst/>
              <a:gdLst/>
              <a:ahLst/>
              <a:cxnLst/>
              <a:rect r="r" b="b" t="t" l="l"/>
              <a:pathLst>
                <a:path h="1174805" w="1213522">
                  <a:moveTo>
                    <a:pt x="0" y="0"/>
                  </a:moveTo>
                  <a:lnTo>
                    <a:pt x="1213522" y="0"/>
                  </a:lnTo>
                  <a:lnTo>
                    <a:pt x="1213522" y="1174805"/>
                  </a:lnTo>
                  <a:lnTo>
                    <a:pt x="0" y="1174805"/>
                  </a:lnTo>
                  <a:close/>
                </a:path>
              </a:pathLst>
            </a:custGeom>
            <a:blipFill>
              <a:blip r:embed="rId4"/>
              <a:stretch>
                <a:fillRect l="-3818" t="0" r="-3818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167426" y="2419759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CONFUSION MATRICES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25909" y="9153525"/>
            <a:ext cx="880637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ANN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18192" y="9153525"/>
            <a:ext cx="1051617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KNN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4997" y="9153525"/>
            <a:ext cx="1024190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SVM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43457" y="3580808"/>
            <a:ext cx="5815843" cy="4800714"/>
          </a:xfrm>
          <a:custGeom>
            <a:avLst/>
            <a:gdLst/>
            <a:ahLst/>
            <a:cxnLst/>
            <a:rect r="r" b="b" t="t" l="l"/>
            <a:pathLst>
              <a:path h="4800714" w="5815843">
                <a:moveTo>
                  <a:pt x="0" y="0"/>
                </a:moveTo>
                <a:lnTo>
                  <a:pt x="5815843" y="0"/>
                </a:lnTo>
                <a:lnTo>
                  <a:pt x="5815843" y="4800714"/>
                </a:lnTo>
                <a:lnTo>
                  <a:pt x="0" y="4800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82131" y="5391975"/>
            <a:ext cx="8896528" cy="434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SVM achieved the highest accuracy among classical classification models while providing a good balance between high accuracy, lower training time, and reduced computational cost. </a:t>
            </a: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Decision Tree showed the weakest performance. </a:t>
            </a: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ANN achieved the overall best accuracy, but it required more time and higher computational resources.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9945" y="3097011"/>
            <a:ext cx="7561347" cy="17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KEY FINDINGS AND MODEL COMPARISON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24714" y="3178947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CONCLUSION 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541127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3940747" y="0"/>
                </a:moveTo>
                <a:lnTo>
                  <a:pt x="0" y="0"/>
                </a:lnTo>
                <a:lnTo>
                  <a:pt x="0" y="4114800"/>
                </a:lnTo>
                <a:lnTo>
                  <a:pt x="3940747" y="4114800"/>
                </a:lnTo>
                <a:lnTo>
                  <a:pt x="394074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24714" y="5064218"/>
            <a:ext cx="7787044" cy="391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we successfully compared seven machine learning models for fruit classification and gained valuable insights into their performance. The results showed that classical machine learning approaches can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compete with Deep Learning when features are effective. The developed system is capable of accurately classifying 10 different fruit types and is ready for further development and real-world testing.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578" y="-1201787"/>
            <a:ext cx="13008829" cy="130088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0"/>
                  </a:srgbClr>
                </a:gs>
                <a:gs pos="100000">
                  <a:srgbClr val="FFFFFF">
                    <a:alpha val="7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2088" y="384135"/>
            <a:ext cx="7683898" cy="9518730"/>
          </a:xfrm>
          <a:custGeom>
            <a:avLst/>
            <a:gdLst/>
            <a:ahLst/>
            <a:cxnLst/>
            <a:rect r="r" b="b" t="t" l="l"/>
            <a:pathLst>
              <a:path h="9518730" w="7683898">
                <a:moveTo>
                  <a:pt x="0" y="0"/>
                </a:moveTo>
                <a:lnTo>
                  <a:pt x="7683898" y="0"/>
                </a:lnTo>
                <a:lnTo>
                  <a:pt x="7683898" y="9518730"/>
                </a:lnTo>
                <a:lnTo>
                  <a:pt x="0" y="951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6963" y="3129843"/>
            <a:ext cx="5881764" cy="425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  <a:p>
            <a:pPr algn="l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6963" y="8129239"/>
            <a:ext cx="8819991" cy="177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256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resented by: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andra Ghayes Zarif                  22P0300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Yousif Salah</a:t>
            </a: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Moh</a:t>
            </a: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ammed          22P0232</a:t>
            </a: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DAG-bzGhblQ</dc:identifier>
  <dcterms:modified xsi:type="dcterms:W3CDTF">2011-08-01T06:04:30Z</dcterms:modified>
  <cp:revision>1</cp:revision>
  <dc:title>Blue Futuristic Artificial Intelligence Presentation</dc:title>
</cp:coreProperties>
</file>